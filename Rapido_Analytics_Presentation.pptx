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347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tm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894070" y="2103120"/>
            <a:ext cx="3200400" cy="3200400"/>
          </a:xfrm>
          <a:prstGeom prst="ellipse">
            <a:avLst/>
          </a:prstGeom>
          <a:solidFill>
            <a:srgbClr val="E76F51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RIDE 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 &amp; Data-Driven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Making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operational challenges using SQL · Excel · Power BI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AABBCC"/>
                </a:solidFill>
                <a:latin typeface="Arial" pitchFamily="34" charset="0"/>
                <a:cs typeface="Arial" pitchFamily="34" charset="-120"/>
              </a:rPr>
              <a:t>--by Abhishek </a:t>
            </a:r>
            <a:r>
              <a:rPr lang="en-US" sz="1100" i="1" dirty="0" err="1">
                <a:solidFill>
                  <a:srgbClr val="AABBCC"/>
                </a:solidFill>
                <a:latin typeface="Arial" pitchFamily="34" charset="0"/>
                <a:cs typeface="Arial" pitchFamily="34" charset="-120"/>
              </a:rPr>
              <a:t>kumar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Project  |  Technologies: SQL  •  Excel  •  Power BI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931736-5153-E259-65B3-AF0865276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25373" y="2084342"/>
            <a:ext cx="3937794" cy="29636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DDE4A1-3977-9F0E-3C30-4FFFAC14B3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8" b="89925" l="4093" r="95552">
                        <a14:foregroundMark x1="17556" y1="57342" x2="25563" y2="66774"/>
                        <a14:foregroundMark x1="10795" y1="56056" x2="4093" y2="77814"/>
                        <a14:foregroundMark x1="87213" y1="67738" x2="88849" y2="82637"/>
                        <a14:foregroundMark x1="85706" y1="54019" x2="87213" y2="67738"/>
                        <a14:foregroundMark x1="88849" y1="82637" x2="95552" y2="58735"/>
                        <a14:foregroundMark x1="95552" y1="58735" x2="86773" y2="54984"/>
                        <a14:foregroundMark x1="54093" y1="19400" x2="54093" y2="19400"/>
                        <a14:foregroundMark x1="66251" y1="22722" x2="66251" y2="22722"/>
                        <a14:foregroundMark x1="46975" y1="23794" x2="46975" y2="23794"/>
                        <a14:backgroundMark x1="34223" y1="92926" x2="34223" y2="92926"/>
                        <a14:backgroundMark x1="34223" y1="92926" x2="34223" y2="92926"/>
                        <a14:backgroundMark x1="87900" y1="67738" x2="87900" y2="67738"/>
                        <a14:backgroundMark x1="85706" y1="69775" x2="85706" y2="69775"/>
                        <a14:backgroundMark x1="85706" y1="69775" x2="85706" y2="697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92819" y="2155541"/>
            <a:ext cx="1196340" cy="7710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3761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Cancellation Rate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why customers &amp; drivers cancel rides, making it impossible to take corrective action.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2344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937760" y="13761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Location Insights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37760" y="185623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pickup/drop locations unknown — leading to driver unavailability in high-demand zones.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30632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548640" y="321792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Leakage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48640" y="368503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tracking of daily revenue trends or vehicle-type contribution, causing missed revenue opportunities.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30632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4937760" y="3273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Inefficiency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37760" y="368503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vehicle &amp; customer turnaround times (VTAT/CTAT) go undetected without data monitoring.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Tools. One Unified Analytics Pipeline.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64592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1A335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256540" y="1747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56540" y="2148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302511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analytical queries covering cancellation rates, revenue aggregation, top customers, VTAT/CTAT analysis, pickup-drop pairs, and window functions for ranking.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0624" y="33147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Data extraction &amp; filtering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Aggregations &amp; GROUP BY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Window functions (RANK)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Cancellation rate calculation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23260" y="164592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1A335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081020" y="176403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081020" y="208407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Pivot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09620" y="2280159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CSV data cleaned, structured and summarised using pivot tables, conditional formatting, and formulas for operational KPI tracking.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330448" y="320497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Data cleaning &amp; formatting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Pivot tables for trends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Conditional formatting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KPI summary sheets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35624" y="162306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1A335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007608" y="17145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021324" y="20304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217920" y="2291589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interactive dashboard with slicers, DAX measures, custom visuals and drill-through capabilities for business stakeholder reporting.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236208" y="320497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Interactive visuals &amp; slicers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DAX measures &amp; KPIs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Drill-through reports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Multi-page dashboard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017520" y="3246120"/>
            <a:ext cx="2743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>
            <a:off x="5870448" y="3246120"/>
            <a:ext cx="2743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— KEY QUERIES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F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business queries answered with MySQL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16736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1A335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167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Q1–3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Status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rides, cancellations by customer &amp; driver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16736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1A3354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3167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Q4–5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94960" y="1261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Driver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customers, driver cancellation by reason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76856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1A3354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2768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Q6–8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" y="2221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&amp; Value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Max/min driver ratings, payment &gt; ₹500, avg customer ratings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14884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276856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1A3354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2768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Q9–10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94960" y="2221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Incomplete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booking value, incomplete ride details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10896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236976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1A3354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2369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60120" y="3182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Rate 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 customer | 10.2% driver cancel rates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10896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236976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1A3354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2369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94960" y="3182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Cancel Reason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customer cancellation reason identified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06908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197096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1A3354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1970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60120" y="4142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Day-wise Revenue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4434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ride count + revenue trend for the month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406908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4197096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1A3354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41970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94960" y="4142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Rank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94960" y="4434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types ranked by revenue via RANK() window fn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Revealed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1A335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176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Cancellation Rate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reason: Driver not moving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141732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1A335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₹7M+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50592" y="2176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(Success)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50592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across all vehicle types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141732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1A335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4.1★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26864" y="2176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Customer Rating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26864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Highest: Prime Sedan &amp; Bike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141732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1A335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03136" y="2176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VTAT Breach Rides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03136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 with wait time &gt; 10 mins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8595360" cy="1783080"/>
          </a:xfrm>
          <a:prstGeom prst="roundRect">
            <a:avLst>
              <a:gd name="adj" fmla="val 5128"/>
            </a:avLst>
          </a:prstGeom>
          <a:solidFill>
            <a:srgbClr val="1A335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1546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Findings from SQL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547872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DEE"/>
                </a:solidFill>
              </a:rPr>
              <a:t>Top 5 pickup locations drive 42% of all successful bookings — High concentration in 3 zones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DEE"/>
                </a:solidFill>
              </a:rPr>
              <a:t>Prime Sedan generates highest average booking value (₹380 avg) vs Auto (₹145 avg)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DEE"/>
                </a:solidFill>
              </a:rPr>
              <a:t>Peak booking hour: 8 AM – 10 AM slot accounts for the most rides across all vehicle types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DDEE"/>
                </a:solidFill>
              </a:rPr>
              <a:t>Customers cancelling more than completing rides identified — targeted retention needed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540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OVERVIEW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0210" y="4849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includes →  Booking Status Overview  • Revenue by Vehicle Type  •  Cancellation Trends  •  Top Locations Map  •  Day-wise Ride Count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17B5E2-0DB0-451E-401E-91789359E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350" y="1027590"/>
            <a:ext cx="3498849" cy="18934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70C2BC-67A5-9C5B-962E-F006A486A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3711"/>
            <a:ext cx="5524500" cy="39048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902345-7507-C54B-A2C0-F09663C3AB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44" t="19383" r="28937" b="15802"/>
          <a:stretch>
            <a:fillRect/>
          </a:stretch>
        </p:blipFill>
        <p:spPr>
          <a:xfrm>
            <a:off x="5594349" y="2956130"/>
            <a:ext cx="3498849" cy="1893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SOLVED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685800" cy="6858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280160"/>
            <a:ext cx="822960" cy="274320"/>
          </a:xfrm>
          <a:prstGeom prst="roundRect">
            <a:avLst>
              <a:gd name="adj" fmla="val 23333"/>
            </a:avLst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280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48840" y="126187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Extraction &amp;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645920"/>
            <a:ext cx="7269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20+ optimised SQL queries to extract meaningful business answers from raw ride data — cancellation analysis, revenue breakdown, top users, location demand, VTAT/CTAT monitoring and window function rankings.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697480"/>
            <a:ext cx="685800" cy="6858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697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4440" y="2560320"/>
            <a:ext cx="822960" cy="274320"/>
          </a:xfrm>
          <a:prstGeom prst="roundRect">
            <a:avLst>
              <a:gd name="adj" fmla="val 23333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48840" y="254203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Pivot Reports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7269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the CSV into Excel, cleaned nulls, formatted columns, and built pivot tables to cross-tabulate vehicle type vs revenue, daily ride volumes, and rating distributions for quick team reporting.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749040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977640"/>
            <a:ext cx="685800" cy="6858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977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34440" y="3840480"/>
            <a:ext cx="822960" cy="274320"/>
          </a:xfrm>
          <a:prstGeom prst="roundRect">
            <a:avLst>
              <a:gd name="adj" fmla="val 23333"/>
            </a:avLst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48840" y="382219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206240"/>
            <a:ext cx="7269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 multi-page Power BI dashboard with DAX measures, date slicers, drill-through pages and card KPIs so stakeholders can monitor rides, revenue, cancellations and ratings in real time.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2167128"/>
            <a:ext cx="4572000" cy="4572000"/>
          </a:xfrm>
          <a:prstGeom prst="ellipse">
            <a:avLst/>
          </a:prstGeom>
          <a:solidFill>
            <a:srgbClr val="F4A261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Operations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Rapido's Growth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5146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D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uncovered hidden patterns in cancellations, ratings, and revenue that were invisible without structured querying.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10128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992" y="32644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D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bridged raw data and business reporting, giving teams a lightweight yet powerful analytical layer.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59936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8992" y="4014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D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transformed static numbers into a live, interactive operations dashboard for management decisions.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774D35-204D-265C-9326-9D8342F01E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7559" y="129984"/>
            <a:ext cx="3178161" cy="178771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12" name="Text 7"/>
          <p:cNvSpPr/>
          <p:nvPr/>
        </p:nvSpPr>
        <p:spPr>
          <a:xfrm>
            <a:off x="457200" y="4681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Rapido Analytics Project  •  SQL  •  Excel  •  Power BI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707</Words>
  <Application>Microsoft Office PowerPoint</Application>
  <PresentationFormat>On-screen Show (16:9)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Rapido Ride Analytics</dc:title>
  <dc:subject>PptxGenJS Presentation</dc:subject>
  <dc:creator>Data Analytics Team</dc:creator>
  <cp:lastModifiedBy>Abhishek Kumar</cp:lastModifiedBy>
  <cp:revision>3</cp:revision>
  <dcterms:created xsi:type="dcterms:W3CDTF">2026-06-24T15:02:54Z</dcterms:created>
  <dcterms:modified xsi:type="dcterms:W3CDTF">2026-06-24T15:24:33Z</dcterms:modified>
</cp:coreProperties>
</file>